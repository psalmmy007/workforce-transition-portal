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7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19695" y="0"/>
            <a:ext cx="4572000" cy="3657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areer_g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927" y="822960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2011680"/>
            <a:ext cx="95562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chemeClr val="bg1"/>
                </a:solidFill>
                <a:latin typeface="Century" panose="02040604050505020304" pitchFamily="18" charset="0"/>
              </a:rPr>
              <a:t>10ALYTICS × JENGAGLOBAL HACKATHON 2026  ·  TRACK C —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Georgia"/>
              </a:rPr>
              <a:t>CareerGPS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047" y="246888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 dirty="0">
                <a:solidFill>
                  <a:srgbClr val="3B82F6"/>
                </a:solidFill>
                <a:latin typeface="Georgia"/>
              </a:rPr>
              <a:t>GPS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94484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B0C4DE"/>
                </a:solidFill>
                <a:latin typeface="IBM Plex Sans"/>
              </a:rPr>
              <a:t>Predictive Workforce Transition Intelligence
AI-Powered Job Displacement Risk Classification &amp; Career Reskilling 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0957" y="4572000"/>
            <a:ext cx="28697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0" y="470916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3B82F6"/>
                </a:solidFill>
                <a:latin typeface="Century" panose="02040604050505020304" pitchFamily="18" charset="0"/>
              </a:rPr>
              <a:t>CLIENT 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04269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 err="1">
                <a:solidFill>
                  <a:srgbClr val="FFFFFF"/>
                </a:solidFill>
                <a:latin typeface="IBM Plex Sans"/>
              </a:rPr>
              <a:t>StrataWork</a:t>
            </a:r>
            <a:r>
              <a:rPr sz="1400" b="1" i="0" dirty="0">
                <a:solidFill>
                  <a:srgbClr val="FFFFFF"/>
                </a:solidFill>
                <a:latin typeface="IBM Plex Sans"/>
              </a:rPr>
              <a:t>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70916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3B82F6"/>
                </a:solidFill>
                <a:latin typeface="Century" panose="02040604050505020304" pitchFamily="18" charset="0"/>
              </a:rPr>
              <a:t>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04269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IBM Plex Sans"/>
              </a:rPr>
              <a:t>Data Science (C)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70916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3B82F6"/>
                </a:solidFill>
                <a:latin typeface="Century" panose="02040604050505020304" pitchFamily="18" charset="0"/>
              </a:rPr>
              <a:t>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05768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IBM Plex Sans"/>
              </a:rPr>
              <a:t>Sept. Cohort</a:t>
            </a:r>
            <a:endParaRPr sz="1400" b="1" i="0" dirty="0">
              <a:solidFill>
                <a:srgbClr val="FFFFFF"/>
              </a:solidFill>
              <a:latin typeface="IBM Plex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areer_g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2916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01168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B82F6"/>
                </a:solidFill>
                <a:latin typeface="Century" panose="02040604050505020304" pitchFamily="18" charset="0"/>
              </a:rP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5468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Georgia"/>
              </a:rPr>
              <a:t>When automation moves fast, people are left behind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411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ourier New"/>
              </a:rPr>
              <a:t>02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316" y="1325880"/>
            <a:ext cx="42062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FFFFFF"/>
                </a:solidFill>
                <a:latin typeface="Georgia"/>
              </a:rPr>
              <a:t>StrataWork</a:t>
            </a:r>
            <a:r>
              <a:rPr sz="2000" b="1" i="0" dirty="0">
                <a:solidFill>
                  <a:srgbClr val="FFFFFF"/>
                </a:solidFill>
                <a:latin typeface="Georgia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Georgia"/>
              </a:rPr>
              <a:t>Global's</a:t>
            </a:r>
            <a:r>
              <a:rPr sz="2000" b="1" i="0" dirty="0">
                <a:solidFill>
                  <a:srgbClr val="FFFFFF"/>
                </a:solidFill>
                <a:latin typeface="Georgia"/>
              </a:rPr>
              <a:t> Crisis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113" y="1783080"/>
            <a:ext cx="56692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b="0" i="0" dirty="0">
                <a:solidFill>
                  <a:srgbClr val="B0C4DE"/>
                </a:solidFill>
                <a:latin typeface="IBM Plex Sans"/>
              </a:rPr>
              <a:t>After adopting generative AI, </a:t>
            </a:r>
            <a:r>
              <a:rPr b="0" i="0" dirty="0" err="1">
                <a:solidFill>
                  <a:srgbClr val="B0C4DE"/>
                </a:solidFill>
                <a:latin typeface="IBM Plex Sans"/>
              </a:rPr>
              <a:t>StrataWork</a:t>
            </a:r>
            <a:r>
              <a:rPr b="0" i="0" dirty="0">
                <a:solidFill>
                  <a:srgbClr val="B0C4DE"/>
                </a:solidFill>
                <a:latin typeface="IBM Plex Sans"/>
              </a:rPr>
              <a:t> automated 65% of entry-level analytics tasks cutting turnaround by 300% but leaving hundreds of junior analysts displaced with no structured path forward.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5168" y="4439262"/>
            <a:ext cx="256032" cy="256032"/>
          </a:xfrm>
          <a:prstGeom prst="rect">
            <a:avLst/>
          </a:prstGeom>
          <a:solidFill>
            <a:srgbClr val="7F1D1D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3532" y="4434795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i="0" dirty="0">
                <a:solidFill>
                  <a:srgbClr val="F87171"/>
                </a:solidFill>
                <a:latin typeface="IBM Plex Sans"/>
              </a:rPr>
              <a:t>✕</a:t>
            </a:r>
            <a:endParaRPr sz="1100" b="1" i="0" dirty="0">
              <a:solidFill>
                <a:srgbClr val="F87171"/>
              </a:solidFill>
              <a:latin typeface="IBM Plex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630" y="3160609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C4DE"/>
                </a:solidFill>
                <a:latin typeface="IBM Plex Sans"/>
              </a:rPr>
              <a:t>No data-driven way to classify which roles face automation 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3532" y="3182029"/>
            <a:ext cx="256032" cy="256032"/>
          </a:xfrm>
          <a:prstGeom prst="rect">
            <a:avLst/>
          </a:prstGeom>
          <a:solidFill>
            <a:srgbClr val="7F1D1D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630" y="3687482"/>
            <a:ext cx="5303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C4DE"/>
                </a:solidFill>
                <a:latin typeface="IBM Plex Sans"/>
              </a:rPr>
              <a:t>No skills-based mechanism to map displaced workers to new roles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3532" y="3721937"/>
            <a:ext cx="256032" cy="256032"/>
          </a:xfrm>
          <a:prstGeom prst="rect">
            <a:avLst/>
          </a:prstGeom>
          <a:solidFill>
            <a:srgbClr val="7F1D1D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5148" y="3718609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87171"/>
                </a:solidFill>
                <a:latin typeface="IBM Plex Sans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807" y="319552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87171"/>
                </a:solidFill>
                <a:latin typeface="IBM Plex Sans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564" y="4389870"/>
            <a:ext cx="5303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C4DE"/>
                </a:solidFill>
                <a:latin typeface="IBM Plex Sans"/>
              </a:rPr>
              <a:t>Talent leaders flying blind on company-wide workforce exposure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325880"/>
            <a:ext cx="5212080" cy="1508760"/>
          </a:xfrm>
          <a:prstGeom prst="rect">
            <a:avLst/>
          </a:prstGeom>
          <a:solidFill>
            <a:srgbClr val="0E244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150876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3B82F6"/>
                </a:solidFill>
                <a:latin typeface="Georgia"/>
              </a:rPr>
              <a:t>65%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209550"/>
            <a:ext cx="5212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B0C4DE"/>
                </a:solidFill>
                <a:latin typeface="IBM Plex Sans"/>
              </a:rPr>
              <a:t>of entry-level analytics tasks
automated at </a:t>
            </a:r>
            <a:r>
              <a:rPr sz="1400" b="0" i="0" dirty="0" err="1">
                <a:solidFill>
                  <a:srgbClr val="B0C4DE"/>
                </a:solidFill>
                <a:latin typeface="IBM Plex Sans"/>
              </a:rPr>
              <a:t>StrataWork</a:t>
            </a:r>
            <a:r>
              <a:rPr sz="1400" b="0" i="0" dirty="0">
                <a:solidFill>
                  <a:srgbClr val="B0C4DE"/>
                </a:solidFill>
                <a:latin typeface="IBM Plex Sans"/>
              </a:rPr>
              <a:t> Global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017520"/>
            <a:ext cx="5212080" cy="1508760"/>
          </a:xfrm>
          <a:prstGeom prst="rect">
            <a:avLst/>
          </a:prstGeom>
          <a:solidFill>
            <a:srgbClr val="0E244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320040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3B82F6"/>
                </a:solidFill>
                <a:latin typeface="Georgia"/>
              </a:rPr>
              <a:t>300%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210" y="3886200"/>
            <a:ext cx="5212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B0C4DE"/>
                </a:solidFill>
                <a:latin typeface="IBM Plex Sans"/>
              </a:rPr>
              <a:t>improvement in turnaround while
analysts faced displacement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4709160"/>
            <a:ext cx="5212080" cy="1508760"/>
          </a:xfrm>
          <a:prstGeom prst="rect">
            <a:avLst/>
          </a:prstGeom>
          <a:solidFill>
            <a:srgbClr val="0E244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4026" y="473277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 dirty="0">
                <a:solidFill>
                  <a:srgbClr val="3B82F6"/>
                </a:solidFill>
                <a:latin typeface="Georgia"/>
              </a:rPr>
              <a:t>47%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457920"/>
            <a:ext cx="5212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B0C4DE"/>
                </a:solidFill>
                <a:latin typeface="IBM Plex Sans"/>
              </a:rPr>
              <a:t>of US occupations at high
automation risk — Frey &amp; Osborne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areer_g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01168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3B82F6"/>
                </a:solidFill>
                <a:latin typeface="Century" panose="02040604050505020304" pitchFamily="18" charset="0"/>
              </a:rP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79" y="475488"/>
            <a:ext cx="97228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Georgia"/>
              </a:rPr>
              <a:t>CareerGPS</a:t>
            </a:r>
            <a:r>
              <a:rPr sz="2400" b="1" i="0" dirty="0">
                <a:solidFill>
                  <a:srgbClr val="FFFFFF"/>
                </a:solidFill>
                <a:latin typeface="Georgia"/>
              </a:rPr>
              <a:t> — a three-pillar workforce intelligence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411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ourier New"/>
              </a:rPr>
              <a:t>03 / 08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95900"/>
            <a:ext cx="54864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298448"/>
            <a:ext cx="111858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0C4DE"/>
                </a:solidFill>
                <a:latin typeface="IBM Plex Sans"/>
              </a:rPr>
              <a:t>An end-to-end interactive workforce intelligence platform built on 500 enterprise role records — combining machine learning, academic benchmarks, and a real-time skill-matching engine in one unified application.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48840"/>
            <a:ext cx="3703320" cy="2834640"/>
          </a:xfrm>
          <a:prstGeom prst="rect">
            <a:avLst/>
          </a:prstGeom>
          <a:solidFill>
            <a:srgbClr val="0E244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148840"/>
            <a:ext cx="37033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5203" y="2286000"/>
            <a:ext cx="3703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solidFill>
                  <a:srgbClr val="3B82F6"/>
                </a:solidFill>
                <a:latin typeface="Courier New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926830"/>
            <a:ext cx="3703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Risk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56432"/>
            <a:ext cx="33375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B0C4DE"/>
                </a:solidFill>
                <a:latin typeface="IBM Plex Sans"/>
              </a:rPr>
              <a:t>Classifies every role as High, Medium, or Low automation risk using Logistic Regression benchmarked against Frey &amp; Osborne academic data.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148840"/>
            <a:ext cx="3703320" cy="2834640"/>
          </a:xfrm>
          <a:prstGeom prst="rect">
            <a:avLst/>
          </a:prstGeom>
          <a:solidFill>
            <a:srgbClr val="0E244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680" y="2148840"/>
            <a:ext cx="37033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44187" y="2363504"/>
            <a:ext cx="3703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solidFill>
                  <a:srgbClr val="3B82F6"/>
                </a:solidFill>
                <a:latin typeface="Courier New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971800"/>
            <a:ext cx="3703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Georgia"/>
              </a:rPr>
              <a:t>Pathway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456432"/>
            <a:ext cx="33375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B0C4DE"/>
                </a:solidFill>
                <a:latin typeface="IBM Plex Sans"/>
              </a:rPr>
              <a:t>Maps displaced or at-risk workers to realistic adjacent career paths based on current skills, industry, and experience — with actionable upskilling priorities.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148840"/>
            <a:ext cx="3703320" cy="2834640"/>
          </a:xfrm>
          <a:prstGeom prst="rect">
            <a:avLst/>
          </a:prstGeom>
          <a:solidFill>
            <a:srgbClr val="0E244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0" y="2148840"/>
            <a:ext cx="37033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73897" y="2379684"/>
            <a:ext cx="3703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solidFill>
                  <a:srgbClr val="3B82F6"/>
                </a:solidFill>
                <a:latin typeface="Courier New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971800"/>
            <a:ext cx="3703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Georgia"/>
              </a:rPr>
              <a:t>Talent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456432"/>
            <a:ext cx="33375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B0C4DE"/>
                </a:solidFill>
                <a:latin typeface="IBM Plex Sans"/>
              </a:rPr>
              <a:t>Gives HR and talent leaders a company-wide exposure view: KPI cards, interactive charts, and role-level breakdowns in a live </a:t>
            </a:r>
            <a:r>
              <a:rPr sz="1600" b="0" i="0" dirty="0" err="1">
                <a:solidFill>
                  <a:srgbClr val="B0C4DE"/>
                </a:solidFill>
                <a:latin typeface="IBM Plex Sans"/>
              </a:rPr>
              <a:t>Streamlit</a:t>
            </a:r>
            <a:r>
              <a:rPr sz="1600" b="0" i="0" dirty="0">
                <a:solidFill>
                  <a:srgbClr val="B0C4DE"/>
                </a:solidFill>
                <a:latin typeface="IBM Plex Sans"/>
              </a:rPr>
              <a:t> application.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0750" y="5136380"/>
            <a:ext cx="896112" cy="320040"/>
          </a:xfrm>
          <a:prstGeom prst="rect">
            <a:avLst/>
          </a:prstGeom>
          <a:solidFill>
            <a:srgbClr val="0E244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3644" y="5178056"/>
            <a:ext cx="8961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chemeClr val="bg1"/>
                </a:solidFill>
                <a:latin typeface="Courier New"/>
              </a:rPr>
              <a:t>Python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26464" y="5166360"/>
            <a:ext cx="1184148" cy="320040"/>
          </a:xfrm>
          <a:prstGeom prst="rect">
            <a:avLst/>
          </a:prstGeom>
          <a:solidFill>
            <a:srgbClr val="0E244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26464" y="5178052"/>
            <a:ext cx="11841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bg1"/>
                </a:solidFill>
                <a:latin typeface="Courier New"/>
              </a:rPr>
              <a:t>Streamlit</a:t>
            </a:r>
            <a:endParaRPr sz="900" b="0" i="0" dirty="0">
              <a:solidFill>
                <a:schemeClr val="bg1"/>
              </a:solidFill>
              <a:latin typeface="Courier New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775204" y="5166360"/>
            <a:ext cx="1472184" cy="320040"/>
          </a:xfrm>
          <a:prstGeom prst="rect">
            <a:avLst/>
          </a:prstGeom>
          <a:solidFill>
            <a:srgbClr val="0E244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75204" y="5193042"/>
            <a:ext cx="14721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chemeClr val="bg1"/>
                </a:solidFill>
                <a:latin typeface="Courier New"/>
              </a:rPr>
              <a:t>Scikit-learn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11980" y="5166360"/>
            <a:ext cx="2144268" cy="320040"/>
          </a:xfrm>
          <a:prstGeom prst="rect">
            <a:avLst/>
          </a:prstGeom>
          <a:solidFill>
            <a:srgbClr val="0E244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37030" y="5223022"/>
            <a:ext cx="23088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chemeClr val="bg1"/>
                </a:solidFill>
                <a:latin typeface="Courier New"/>
              </a:rPr>
              <a:t>Logistic Regression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5166360"/>
            <a:ext cx="896112" cy="320040"/>
          </a:xfrm>
          <a:prstGeom prst="rect">
            <a:avLst/>
          </a:prstGeom>
          <a:solidFill>
            <a:srgbClr val="0E244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20840" y="5193042"/>
            <a:ext cx="8961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chemeClr val="bg1"/>
                </a:solidFill>
                <a:latin typeface="Courier New"/>
              </a:rPr>
              <a:t>Plotly</a:t>
            </a:r>
            <a:endParaRPr sz="1400" b="0" i="0" dirty="0">
              <a:solidFill>
                <a:schemeClr val="bg1"/>
              </a:solidFill>
              <a:latin typeface="Courier New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781544" y="5166360"/>
            <a:ext cx="896112" cy="320040"/>
          </a:xfrm>
          <a:prstGeom prst="rect">
            <a:avLst/>
          </a:prstGeom>
          <a:solidFill>
            <a:srgbClr val="0E244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81544" y="5193042"/>
            <a:ext cx="8961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chemeClr val="bg1"/>
                </a:solidFill>
                <a:latin typeface="Courier New"/>
              </a:rPr>
              <a:t>Pandas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42248" y="5166360"/>
            <a:ext cx="2624328" cy="320040"/>
          </a:xfrm>
          <a:prstGeom prst="rect">
            <a:avLst/>
          </a:prstGeom>
          <a:solidFill>
            <a:srgbClr val="0E244F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97478" y="5193042"/>
            <a:ext cx="33497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chemeClr val="bg1"/>
                </a:solidFill>
                <a:latin typeface="Courier New"/>
              </a:rPr>
              <a:t>Frey &amp; Osborne Benchmark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areer_g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01168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3B82F6"/>
                </a:solidFill>
                <a:latin typeface="Century" panose="02040604050505020304" pitchFamily="18" charset="0"/>
              </a:rPr>
              <a:t>TECHNICAL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45508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Georgia"/>
              </a:rPr>
              <a:t>A five-stage end-to-end ML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411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ourier New"/>
              </a:rPr>
              <a:t>04 / 08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547" y="1371600"/>
            <a:ext cx="2148840" cy="2560320"/>
          </a:xfrm>
          <a:prstGeom prst="rect">
            <a:avLst/>
          </a:prstGeom>
          <a:solidFill>
            <a:srgbClr val="0E244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6547" y="2011680"/>
            <a:ext cx="2148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3B82F6"/>
                </a:solidFill>
                <a:latin typeface="Century" panose="02040604050505020304" pitchFamily="18" charset="0"/>
              </a:rPr>
              <a:t>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987" y="2449092"/>
            <a:ext cx="19659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B0C4DE"/>
                </a:solidFill>
                <a:latin typeface="IBM Plex Sans"/>
              </a:rPr>
              <a:t>500 enterprise role records — job titles, skills, salaries, industry, risk labels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1963" y="24231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B82F6"/>
                </a:solidFill>
                <a:latin typeface="IBM Plex Sans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43987" y="1371600"/>
            <a:ext cx="2148840" cy="2560320"/>
          </a:xfrm>
          <a:prstGeom prst="rect">
            <a:avLst/>
          </a:prstGeom>
          <a:solidFill>
            <a:srgbClr val="0E244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28997" y="2026670"/>
            <a:ext cx="2148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3B82F6"/>
                </a:solidFill>
                <a:latin typeface="Century" panose="02040604050505020304" pitchFamily="18" charset="0"/>
              </a:rPr>
              <a:t>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5427" y="2449092"/>
            <a:ext cx="196596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B0C4DE"/>
                </a:solidFill>
                <a:latin typeface="IBM Plex Sans"/>
              </a:rPr>
              <a:t>Missing value treatment, label encoding, feature engineering &amp; correlation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9403" y="24231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B82F6"/>
                </a:solidFill>
                <a:latin typeface="IBM Plex Sans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1427" y="1371600"/>
            <a:ext cx="2148840" cy="2560320"/>
          </a:xfrm>
          <a:prstGeom prst="rect">
            <a:avLst/>
          </a:prstGeom>
          <a:solidFill>
            <a:srgbClr val="0E244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1427" y="2071640"/>
            <a:ext cx="2148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3B82F6"/>
                </a:solidFill>
                <a:latin typeface="Century" panose="02040604050505020304" pitchFamily="18" charset="0"/>
              </a:rP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2867" y="2494062"/>
            <a:ext cx="196596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B0C4DE"/>
                </a:solidFill>
                <a:latin typeface="IBM Plex Sans"/>
              </a:rPr>
              <a:t>Logistic Regression with 5-fold cross-validation, benchmarked vs. majority baseline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6843" y="24231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B82F6"/>
                </a:solidFill>
                <a:latin typeface="IBM Plex Sans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98867" y="1371600"/>
            <a:ext cx="2148840" cy="2560320"/>
          </a:xfrm>
          <a:prstGeom prst="rect">
            <a:avLst/>
          </a:prstGeom>
          <a:solidFill>
            <a:srgbClr val="0E244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98867" y="2101620"/>
            <a:ext cx="2148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3B82F6"/>
                </a:solidFill>
                <a:latin typeface="Century" panose="02040604050505020304" pitchFamily="18" charset="0"/>
              </a:rPr>
              <a:t>MATCH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0307" y="2569012"/>
            <a:ext cx="19659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C4DE"/>
                </a:solidFill>
                <a:latin typeface="IBM Plex Sans"/>
              </a:rPr>
              <a:t>Skill-gap analysis maps each role to 3 adjacent pathways with upskilling steps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4283" y="24231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B82F6"/>
                </a:solidFill>
                <a:latin typeface="IBM Plex Sans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76307" y="1371600"/>
            <a:ext cx="2148840" cy="2560320"/>
          </a:xfrm>
          <a:prstGeom prst="rect">
            <a:avLst/>
          </a:prstGeom>
          <a:solidFill>
            <a:srgbClr val="0E244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76307" y="2071640"/>
            <a:ext cx="2148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B82F6"/>
                </a:solidFill>
                <a:latin typeface="Century" panose="02040604050505020304" pitchFamily="18" charset="0"/>
              </a:rPr>
              <a:t>DEPLOY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67747" y="2598992"/>
            <a:ext cx="1965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  <a:latin typeface="IBM Plex Sans"/>
              </a:rPr>
              <a:t>Interactive Streamlit app with 3 views: Portal, Dashboard &amp; Methodology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114800"/>
            <a:ext cx="5669280" cy="2377440"/>
          </a:xfrm>
          <a:prstGeom prst="rect">
            <a:avLst/>
          </a:prstGeom>
          <a:solidFill>
            <a:srgbClr val="0A152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98342" y="4251960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3B82F6"/>
                </a:solidFill>
                <a:latin typeface="Courier New"/>
              </a:rPr>
              <a:t>TRAINING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695218"/>
            <a:ext cx="5303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B0C4DE"/>
                </a:solidFill>
                <a:latin typeface="IBM Plex Sans"/>
              </a:rPr>
              <a:t>500 enterprise role records across multiple industries, validated against real-world workforce data. Features include role type, skills index, AI adoption level, and automation probability.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4114800"/>
            <a:ext cx="5669280" cy="2377440"/>
          </a:xfrm>
          <a:prstGeom prst="rect">
            <a:avLst/>
          </a:prstGeom>
          <a:solidFill>
            <a:srgbClr val="0A152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27700" y="4251960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B82F6"/>
                </a:solidFill>
                <a:latin typeface="Courier New"/>
              </a:rPr>
              <a:t>EXTERNAL VALIDATION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4680228"/>
            <a:ext cx="5303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B0C4DE"/>
                </a:solidFill>
                <a:latin typeface="IBM Plex Sans"/>
              </a:rPr>
              <a:t>Model predictions validated against the Frey &amp; Osborne (2013) occupational susceptibility index — providing rigorous academic grounding for our risk classifications.</a:t>
            </a:r>
          </a:p>
        </p:txBody>
      </p:sp>
      <p:pic>
        <p:nvPicPr>
          <p:cNvPr id="39" name="Picture 38" descr="database.png">
            <a:extLst>
              <a:ext uri="{FF2B5EF4-FFF2-40B4-BE49-F238E27FC236}">
                <a16:creationId xmlns:a16="http://schemas.microsoft.com/office/drawing/2014/main" id="{BF6D7489-506A-CF4F-A2B9-A006410F4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329" y="1527798"/>
            <a:ext cx="438912" cy="438912"/>
          </a:xfrm>
          <a:prstGeom prst="rect">
            <a:avLst/>
          </a:prstGeom>
        </p:spPr>
      </p:pic>
      <p:pic>
        <p:nvPicPr>
          <p:cNvPr id="41" name="Picture 40" descr="funnel.png">
            <a:extLst>
              <a:ext uri="{FF2B5EF4-FFF2-40B4-BE49-F238E27FC236}">
                <a16:creationId xmlns:a16="http://schemas.microsoft.com/office/drawing/2014/main" id="{628180E0-85C5-E432-2F54-19E3AC5090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5163" y="1542788"/>
            <a:ext cx="458319" cy="458319"/>
          </a:xfrm>
          <a:prstGeom prst="rect">
            <a:avLst/>
          </a:prstGeom>
        </p:spPr>
      </p:pic>
      <p:pic>
        <p:nvPicPr>
          <p:cNvPr id="43" name="Picture 42" descr="cpu.png">
            <a:extLst>
              <a:ext uri="{FF2B5EF4-FFF2-40B4-BE49-F238E27FC236}">
                <a16:creationId xmlns:a16="http://schemas.microsoft.com/office/drawing/2014/main" id="{79612883-29F8-DA50-0680-5391E64A85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1017" y="1572768"/>
            <a:ext cx="458319" cy="458319"/>
          </a:xfrm>
          <a:prstGeom prst="rect">
            <a:avLst/>
          </a:prstGeom>
        </p:spPr>
      </p:pic>
      <p:pic>
        <p:nvPicPr>
          <p:cNvPr id="45" name="Picture 44" descr="route.png">
            <a:extLst>
              <a:ext uri="{FF2B5EF4-FFF2-40B4-BE49-F238E27FC236}">
                <a16:creationId xmlns:a16="http://schemas.microsoft.com/office/drawing/2014/main" id="{9D58E72B-27B6-E5BA-BECD-841EC42A7D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811" y="1572768"/>
            <a:ext cx="438912" cy="438912"/>
          </a:xfrm>
          <a:prstGeom prst="rect">
            <a:avLst/>
          </a:prstGeom>
        </p:spPr>
      </p:pic>
      <p:pic>
        <p:nvPicPr>
          <p:cNvPr id="47" name="Picture 46" descr="monitor.png">
            <a:extLst>
              <a:ext uri="{FF2B5EF4-FFF2-40B4-BE49-F238E27FC236}">
                <a16:creationId xmlns:a16="http://schemas.microsoft.com/office/drawing/2014/main" id="{4ED3C802-D9CF-53A2-47B9-2E2667C10B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2725" y="1572768"/>
            <a:ext cx="458319" cy="4583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areer_g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01168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3B82F6"/>
                </a:solidFill>
                <a:latin typeface="Century" panose="02040604050505020304" pitchFamily="18" charset="0"/>
              </a:rPr>
              <a:t>PRODUCT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79" y="430518"/>
            <a:ext cx="97228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Georgia"/>
              </a:rPr>
              <a:t>Three views. One unified workforce intelligence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411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ourier New"/>
              </a:rPr>
              <a:t>05 / 08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486400" cy="2148840"/>
          </a:xfrm>
          <a:prstGeom prst="rect">
            <a:avLst/>
          </a:prstGeom>
          <a:solidFill>
            <a:srgbClr val="0A152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5190" y="1676948"/>
            <a:ext cx="4389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  <a:latin typeface="Georgia"/>
              </a:rPr>
              <a:t>Real-Time Risk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68760"/>
            <a:ext cx="51206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C4DE"/>
                </a:solidFill>
                <a:latin typeface="IBM Plex Sans"/>
              </a:rPr>
              <a:t>Enter any job title, industry, skills, and experience — get an instant High / Medium / Low automation risk classification powered by the trained ML model.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486400" cy="2148840"/>
          </a:xfrm>
          <a:prstGeom prst="rect">
            <a:avLst/>
          </a:prstGeom>
          <a:solidFill>
            <a:srgbClr val="0A152E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2380" y="1587008"/>
            <a:ext cx="4389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Georgia"/>
              </a:rPr>
              <a:t>Career Pathway 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5810" y="2223790"/>
            <a:ext cx="51206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0C4DE"/>
                </a:solidFill>
                <a:latin typeface="IBM Plex Sans"/>
              </a:rPr>
              <a:t>For each at-risk role, the engine surfaces 3 adjacent career transitions with skill-gap analysis, upskilling priorities, and transition feasibility scores.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5486400" cy="2148840"/>
          </a:xfrm>
          <a:prstGeom prst="rect">
            <a:avLst/>
          </a:prstGeom>
          <a:solidFill>
            <a:srgbClr val="0A152E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50180" y="4024408"/>
            <a:ext cx="4389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Georgia"/>
              </a:rPr>
              <a:t>Talent Analytics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571250"/>
            <a:ext cx="51206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  <a:latin typeface="IBM Plex Sans"/>
              </a:rPr>
              <a:t>KPI overview cards, interactive Plotly charts, and company-wide role exposure breakdown — giving HR leaders a bird's-eye view of workforce vulnerability.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703320"/>
            <a:ext cx="5486400" cy="2148840"/>
          </a:xfrm>
          <a:prstGeom prst="rect">
            <a:avLst/>
          </a:prstGeom>
          <a:solidFill>
            <a:srgbClr val="0A152E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12400" y="3964448"/>
            <a:ext cx="4389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Georgia"/>
              </a:rPr>
              <a:t>Audited Methodology Panel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631210"/>
            <a:ext cx="51206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IBM Plex Sans"/>
              </a:rPr>
              <a:t>Full transparency: model accuracy, cross-validation results, Frey &amp; Osborne benchmark, and honest disclosure of current model limitations — building trust.</a:t>
            </a:r>
          </a:p>
        </p:txBody>
      </p:sp>
      <p:pic>
        <p:nvPicPr>
          <p:cNvPr id="29" name="Picture 28" descr="target.png">
            <a:extLst>
              <a:ext uri="{FF2B5EF4-FFF2-40B4-BE49-F238E27FC236}">
                <a16:creationId xmlns:a16="http://schemas.microsoft.com/office/drawing/2014/main" id="{175052E6-8F34-5796-569D-1860FC5ED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4480"/>
            <a:ext cx="548640" cy="548640"/>
          </a:xfrm>
          <a:prstGeom prst="rect">
            <a:avLst/>
          </a:prstGeom>
        </p:spPr>
      </p:pic>
      <p:pic>
        <p:nvPicPr>
          <p:cNvPr id="31" name="Picture 30" descr="barchart.png">
            <a:extLst>
              <a:ext uri="{FF2B5EF4-FFF2-40B4-BE49-F238E27FC236}">
                <a16:creationId xmlns:a16="http://schemas.microsoft.com/office/drawing/2014/main" id="{631C02BD-CF54-5E2F-D3DA-EA2ABDC4F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884700"/>
            <a:ext cx="548640" cy="548640"/>
          </a:xfrm>
          <a:prstGeom prst="rect">
            <a:avLst/>
          </a:prstGeom>
        </p:spPr>
      </p:pic>
      <p:pic>
        <p:nvPicPr>
          <p:cNvPr id="33" name="Picture 32" descr="book.png">
            <a:extLst>
              <a:ext uri="{FF2B5EF4-FFF2-40B4-BE49-F238E27FC236}">
                <a16:creationId xmlns:a16="http://schemas.microsoft.com/office/drawing/2014/main" id="{788DB44B-4959-4E18-DA42-A36C3D43D8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869710"/>
            <a:ext cx="548640" cy="548640"/>
          </a:xfrm>
          <a:prstGeom prst="rect">
            <a:avLst/>
          </a:prstGeom>
        </p:spPr>
      </p:pic>
      <p:pic>
        <p:nvPicPr>
          <p:cNvPr id="37" name="Picture 36" descr="route.png">
            <a:extLst>
              <a:ext uri="{FF2B5EF4-FFF2-40B4-BE49-F238E27FC236}">
                <a16:creationId xmlns:a16="http://schemas.microsoft.com/office/drawing/2014/main" id="{084A622D-9A24-52E8-A167-64B58B36DD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3" y="1496317"/>
            <a:ext cx="508135" cy="5081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areer_g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01168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B82F6"/>
                </a:solidFill>
                <a:latin typeface="Century" panose="02040604050505020304" pitchFamily="18" charset="0"/>
              </a:rPr>
              <a:t>MODEL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75488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Georgia"/>
              </a:rPr>
              <a:t>Rigorous validation — with full statistical transparency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411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ourier New"/>
              </a:rPr>
              <a:t>06 / 08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577840" cy="3566160"/>
          </a:xfrm>
          <a:prstGeom prst="rect">
            <a:avLst/>
          </a:prstGeom>
          <a:solidFill>
            <a:srgbClr val="0A152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3B82F6"/>
                </a:solidFill>
                <a:latin typeface="Century" panose="02040604050505020304" pitchFamily="18" charset="0"/>
              </a:rPr>
              <a:t>MODEL METRICS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74519"/>
            <a:ext cx="5577840" cy="457200"/>
          </a:xfrm>
          <a:prstGeom prst="rect">
            <a:avLst/>
          </a:prstGeom>
          <a:solidFill>
            <a:srgbClr val="07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965959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4748B"/>
                </a:solidFill>
                <a:latin typeface="IBM Plex Sans"/>
              </a:rPr>
              <a:t>Algorithm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965959"/>
            <a:ext cx="2377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Logistic Regression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50008"/>
            <a:ext cx="5577840" cy="457200"/>
          </a:xfrm>
          <a:prstGeom prst="rect">
            <a:avLst/>
          </a:prstGeom>
          <a:solidFill>
            <a:srgbClr val="0A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4748B"/>
                </a:solidFill>
                <a:latin typeface="IBM Plex Sans"/>
              </a:rPr>
              <a:t>CV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441448"/>
            <a:ext cx="2377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5-Fold Cross-Validation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25496"/>
            <a:ext cx="5577840" cy="457200"/>
          </a:xfrm>
          <a:prstGeom prst="rect">
            <a:avLst/>
          </a:prstGeom>
          <a:solidFill>
            <a:srgbClr val="07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916936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4748B"/>
                </a:solidFill>
                <a:latin typeface="IBM Plex Sans"/>
              </a:rPr>
              <a:t>CV Accuracy (Mean)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916936"/>
            <a:ext cx="2377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>
                <a:solidFill>
                  <a:srgbClr val="34D399"/>
                </a:solidFill>
                <a:latin typeface="Courier New"/>
              </a:rPr>
              <a:t>36.0%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00984"/>
            <a:ext cx="5577840" cy="457200"/>
          </a:xfrm>
          <a:prstGeom prst="rect">
            <a:avLst/>
          </a:prstGeom>
          <a:solidFill>
            <a:srgbClr val="0A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392424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4748B"/>
                </a:solidFill>
                <a:latin typeface="IBM Plex Sans"/>
              </a:rPr>
              <a:t>Majority 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392424"/>
            <a:ext cx="2377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CD34D"/>
                </a:solidFill>
                <a:latin typeface="Courier New"/>
              </a:rPr>
              <a:t>34.6%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76472"/>
            <a:ext cx="5577840" cy="457200"/>
          </a:xfrm>
          <a:prstGeom prst="rect">
            <a:avLst/>
          </a:prstGeom>
          <a:solidFill>
            <a:srgbClr val="07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867912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IBM Plex Sans"/>
              </a:rPr>
              <a:t>Lift over 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867912"/>
            <a:ext cx="2377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34D399"/>
                </a:solidFill>
                <a:latin typeface="Courier New"/>
              </a:rPr>
              <a:t>+1.4 pp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251960"/>
            <a:ext cx="5577840" cy="457200"/>
          </a:xfrm>
          <a:prstGeom prst="rect">
            <a:avLst/>
          </a:prstGeom>
          <a:solidFill>
            <a:srgbClr val="0A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4343400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IBM Plex Sans"/>
              </a:rPr>
              <a:t>Target Classes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343400"/>
            <a:ext cx="2377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ourier New"/>
              </a:rPr>
              <a:t>High / Med / Low Risk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325880"/>
            <a:ext cx="5577840" cy="3566160"/>
          </a:xfrm>
          <a:prstGeom prst="rect">
            <a:avLst/>
          </a:prstGeom>
          <a:solidFill>
            <a:srgbClr val="0A152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1463040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3B82F6"/>
                </a:solidFill>
                <a:latin typeface="Century" panose="02040604050505020304" pitchFamily="18" charset="0"/>
              </a:rPr>
              <a:t>DATASET &amp; BENCHMARK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1874519"/>
            <a:ext cx="5577840" cy="457200"/>
          </a:xfrm>
          <a:prstGeom prst="rect">
            <a:avLst/>
          </a:prstGeom>
          <a:solidFill>
            <a:srgbClr val="07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1965959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4748B"/>
                </a:solidFill>
                <a:latin typeface="IBM Plex Sans"/>
              </a:rPr>
              <a:t>Training Records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1965959"/>
            <a:ext cx="2377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ourier New"/>
              </a:rPr>
              <a:t>500 enterprise roles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350008"/>
            <a:ext cx="5577840" cy="457200"/>
          </a:xfrm>
          <a:prstGeom prst="rect">
            <a:avLst/>
          </a:prstGeom>
          <a:solidFill>
            <a:srgbClr val="0A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2441448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4748B"/>
                </a:solidFill>
                <a:latin typeface="IBM Plex Sans"/>
              </a:rPr>
              <a:t>Industries Covered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2441448"/>
            <a:ext cx="2377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>
                <a:solidFill>
                  <a:srgbClr val="FFFFFF"/>
                </a:solidFill>
                <a:latin typeface="Courier New"/>
              </a:rPr>
              <a:t>Multiple sectors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2825496"/>
            <a:ext cx="5577840" cy="457200"/>
          </a:xfrm>
          <a:prstGeom prst="rect">
            <a:avLst/>
          </a:prstGeom>
          <a:solidFill>
            <a:srgbClr val="07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92240" y="2916936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IBM Plex Sans"/>
              </a:rPr>
              <a:t>Feature Engineering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4157" y="2916936"/>
            <a:ext cx="28001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ourier New"/>
              </a:rPr>
              <a:t>Yes — correlation tested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300984"/>
            <a:ext cx="5577840" cy="457200"/>
          </a:xfrm>
          <a:prstGeom prst="rect">
            <a:avLst/>
          </a:prstGeom>
          <a:solidFill>
            <a:srgbClr val="0A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92240" y="3392424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IBM Plex Sans"/>
              </a:rPr>
              <a:t>External Benchmark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3392424"/>
            <a:ext cx="2377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34D399"/>
                </a:solidFill>
                <a:latin typeface="Courier New"/>
              </a:rPr>
              <a:t>Frey &amp; Osborne 2013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776472"/>
            <a:ext cx="5577840" cy="457200"/>
          </a:xfrm>
          <a:prstGeom prst="rect">
            <a:avLst/>
          </a:prstGeom>
          <a:solidFill>
            <a:srgbClr val="07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92240" y="3867912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IBM Plex Sans"/>
              </a:rPr>
              <a:t>Statistical Testing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3867912"/>
            <a:ext cx="2377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ourier New"/>
              </a:rPr>
              <a:t>Yes — pre-model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4251960"/>
            <a:ext cx="5577840" cy="457200"/>
          </a:xfrm>
          <a:prstGeom prst="rect">
            <a:avLst/>
          </a:prstGeom>
          <a:solidFill>
            <a:srgbClr val="0A1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92240" y="4343400"/>
            <a:ext cx="2926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IBM Plex Sans"/>
              </a:rPr>
              <a:t>Code Audit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4343400"/>
            <a:ext cx="2377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>
                <a:solidFill>
                  <a:srgbClr val="34D399"/>
                </a:solidFill>
                <a:latin typeface="Courier New"/>
              </a:rPr>
              <a:t>Multi-tool reviewed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029200"/>
            <a:ext cx="11551615" cy="1508760"/>
          </a:xfrm>
          <a:prstGeom prst="rect">
            <a:avLst/>
          </a:prstGeom>
          <a:solidFill>
            <a:srgbClr val="051F16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65760" y="5029200"/>
            <a:ext cx="54864" cy="1508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44062" y="520728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34D399"/>
                </a:solidFill>
                <a:latin typeface="Century" panose="02040604050505020304" pitchFamily="18" charset="0"/>
              </a:rPr>
              <a:t>  HONEST DISCLOSURE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5619810"/>
            <a:ext cx="110944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0C4DE"/>
                </a:solidFill>
                <a:latin typeface="IBM Plex Sans"/>
              </a:rPr>
              <a:t>Our model achieves modest but statistically meaningful lift over the majority-class baseline. We disclose this transparently — the dataset's limited size constrains predictive power. Real-world value comes from the pathway engine and dashboard, not just the classifier.</a:t>
            </a:r>
          </a:p>
        </p:txBody>
      </p:sp>
      <p:pic>
        <p:nvPicPr>
          <p:cNvPr id="53" name="Picture 52" descr="sparkles.png">
            <a:extLst>
              <a:ext uri="{FF2B5EF4-FFF2-40B4-BE49-F238E27FC236}">
                <a16:creationId xmlns:a16="http://schemas.microsoft.com/office/drawing/2014/main" id="{9735C5B7-9A05-9F28-843C-EBFDFB647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48" y="508991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areer_g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01168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B82F6"/>
                </a:solidFill>
                <a:latin typeface="Century" panose="02040604050505020304" pitchFamily="18" charset="0"/>
              </a:rPr>
              <a:t>BUSINESS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75488"/>
            <a:ext cx="999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Georgia"/>
              </a:rPr>
              <a:t>From reactive restructuring to proactive workforce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411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ourier New"/>
              </a:rPr>
              <a:t>07 / 08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3566160" cy="1920240"/>
          </a:xfrm>
          <a:prstGeom prst="rect">
            <a:avLst/>
          </a:prstGeom>
          <a:solidFill>
            <a:srgbClr val="0A152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3566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sz="4000" b="1" i="0" dirty="0">
              <a:solidFill>
                <a:srgbClr val="3B82F6"/>
              </a:solidFill>
              <a:latin typeface="Georgi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407420"/>
            <a:ext cx="3566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B0C4DE"/>
                </a:solidFill>
                <a:latin typeface="IBM Plex Sans"/>
              </a:rPr>
              <a:t>Career transition pathways
surfaced per displaced 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25880"/>
            <a:ext cx="3566160" cy="1920240"/>
          </a:xfrm>
          <a:prstGeom prst="rect">
            <a:avLst/>
          </a:prstGeom>
          <a:solidFill>
            <a:srgbClr val="0A152E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0" y="1432310"/>
            <a:ext cx="35661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3B82F6"/>
                </a:solidFill>
                <a:latin typeface="Georgia"/>
              </a:rPr>
              <a:t>500 Roles</a:t>
            </a:r>
          </a:p>
          <a:p>
            <a:pPr algn="ctr"/>
            <a:endParaRPr sz="1600" b="1" i="0" dirty="0">
              <a:solidFill>
                <a:srgbClr val="34D399"/>
              </a:solidFill>
              <a:latin typeface="Georgi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97680" y="2422410"/>
            <a:ext cx="3566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B0C4DE"/>
                </a:solidFill>
                <a:latin typeface="IBM Plex Sans"/>
              </a:rPr>
              <a:t>Enterprise roles </a:t>
            </a:r>
            <a:r>
              <a:rPr sz="1400" b="0" i="0" dirty="0" err="1">
                <a:solidFill>
                  <a:srgbClr val="B0C4DE"/>
                </a:solidFill>
                <a:latin typeface="IBM Plex Sans"/>
              </a:rPr>
              <a:t>analysed</a:t>
            </a:r>
            <a:r>
              <a:rPr sz="1400" b="0" i="0" dirty="0">
                <a:solidFill>
                  <a:srgbClr val="B0C4DE"/>
                </a:solidFill>
                <a:latin typeface="IBM Plex Sans"/>
              </a:rPr>
              <a:t>
across industries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325880"/>
            <a:ext cx="3566160" cy="1920240"/>
          </a:xfrm>
          <a:prstGeom prst="rect">
            <a:avLst/>
          </a:prstGeom>
          <a:solidFill>
            <a:srgbClr val="0A152E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417320"/>
            <a:ext cx="356616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3B82F6"/>
                </a:solidFill>
                <a:latin typeface="Georgia"/>
              </a:rPr>
              <a:t>360° View</a:t>
            </a:r>
          </a:p>
          <a:p>
            <a:pPr algn="ctr"/>
            <a:endParaRPr sz="4400" b="1" i="0" dirty="0">
              <a:solidFill>
                <a:srgbClr val="FCD34D"/>
              </a:solidFill>
              <a:latin typeface="Georgi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0" y="2422410"/>
            <a:ext cx="3566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B0C4DE"/>
                </a:solidFill>
                <a:latin typeface="IBM Plex Sans"/>
              </a:rPr>
              <a:t>Workforce exposure visibility
for HR leadership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29000"/>
            <a:ext cx="5669280" cy="1325880"/>
          </a:xfrm>
          <a:prstGeom prst="rect">
            <a:avLst/>
          </a:prstGeom>
          <a:solidFill>
            <a:srgbClr val="0A152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3429000"/>
            <a:ext cx="54864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520440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IBM Plex Sans"/>
              </a:rPr>
              <a:t>Early Warning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31170"/>
            <a:ext cx="53035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C4DE"/>
                </a:solidFill>
                <a:latin typeface="IBM Plex Sans"/>
              </a:rPr>
              <a:t>Flag at-risk roles before displacement occurs, enabling proactive workforce planning rather than crisis-mode restructuring.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3429000"/>
            <a:ext cx="5669280" cy="1325880"/>
          </a:xfrm>
          <a:prstGeom prst="rect">
            <a:avLst/>
          </a:prstGeom>
          <a:solidFill>
            <a:srgbClr val="0A152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55080" y="3429000"/>
            <a:ext cx="54864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3520440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IBM Plex Sans"/>
              </a:rPr>
              <a:t>Concrete Transition Paths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886200"/>
            <a:ext cx="53035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C4DE"/>
                </a:solidFill>
                <a:latin typeface="IBM Plex Sans"/>
              </a:rPr>
              <a:t>Give displaced employees a skills-based roadmap instead of generic advice — 3 targeted adjacent roles with actionable upskilling steps.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892040"/>
            <a:ext cx="5669280" cy="1325880"/>
          </a:xfrm>
          <a:prstGeom prst="rect">
            <a:avLst/>
          </a:prstGeom>
          <a:solidFill>
            <a:srgbClr val="0A152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4892040"/>
            <a:ext cx="54864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4983480"/>
            <a:ext cx="5303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IBM Plex Sans"/>
              </a:rPr>
              <a:t>Company-Wide Visibility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394210"/>
            <a:ext cx="5303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C4DE"/>
                </a:solidFill>
                <a:latin typeface="IBM Plex Sans"/>
              </a:rPr>
              <a:t>Talent leaders see portfolio-level risk exposure across all roles, industries, and experience levels in one unified dashboard.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4892040"/>
            <a:ext cx="5669280" cy="1325880"/>
          </a:xfrm>
          <a:prstGeom prst="rect">
            <a:avLst/>
          </a:prstGeom>
          <a:solidFill>
            <a:srgbClr val="0A152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55080" y="4892040"/>
            <a:ext cx="54864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4983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IBM Plex Sans"/>
              </a:rPr>
              <a:t>Trust Through Transparency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424190"/>
            <a:ext cx="5303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C4DE"/>
                </a:solidFill>
                <a:latin typeface="IBM Plex Sans"/>
              </a:rPr>
              <a:t>Honest model disclosure and academic benchmarking builds credibility with C-suite stakeholders and regulators.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5FE0C8-B7D6-48BC-7786-F26A5870AD0F}"/>
              </a:ext>
            </a:extLst>
          </p:cNvPr>
          <p:cNvSpPr txBox="1"/>
          <p:nvPr/>
        </p:nvSpPr>
        <p:spPr>
          <a:xfrm>
            <a:off x="337280" y="1463040"/>
            <a:ext cx="3566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solidFill>
                  <a:srgbClr val="3B82F6"/>
                </a:solidFill>
                <a:latin typeface="Georgia"/>
              </a:rPr>
              <a:t>3 Paths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areer_g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01168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3B82F6"/>
                </a:solidFill>
                <a:latin typeface="Courier New"/>
              </a:rPr>
              <a:t>THE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0518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Georgia"/>
              </a:rPr>
              <a:t>Built with precision. Delivered with integrity.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411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ourier New"/>
              </a:rPr>
              <a:t>08 / 08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3520440" cy="3017520"/>
          </a:xfrm>
          <a:prstGeom prst="rect">
            <a:avLst/>
          </a:prstGeom>
          <a:solidFill>
            <a:srgbClr val="0E244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35204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695230"/>
            <a:ext cx="3246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IBM Plex Sans"/>
              </a:rPr>
              <a:t>Adeboyejo Adetoun Abigail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081528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B82F6"/>
                </a:solidFill>
                <a:latin typeface="IBM Plex Sans"/>
              </a:rPr>
              <a:t>Team 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401568"/>
            <a:ext cx="35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64748B"/>
                </a:solidFill>
                <a:latin typeface="IBM Plex Sans"/>
              </a:rPr>
              <a:t>Data Cleaning &amp; Quality Assurance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325880"/>
            <a:ext cx="3520440" cy="3017520"/>
          </a:xfrm>
          <a:prstGeom prst="rect">
            <a:avLst/>
          </a:prstGeom>
          <a:solidFill>
            <a:srgbClr val="0E244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680" y="1325880"/>
            <a:ext cx="35204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40" y="2725210"/>
            <a:ext cx="3246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IBM Plex Sans"/>
              </a:rPr>
              <a:t>Ikechukwu Augustine Okeke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081528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3B82F6"/>
                </a:solidFill>
                <a:latin typeface="IBM Plex Sans"/>
              </a:rPr>
              <a:t>Data Scientist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401568"/>
            <a:ext cx="35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IBM Plex Sans"/>
              </a:rPr>
              <a:t>ML Modelling &amp; Statistical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325880"/>
            <a:ext cx="3520440" cy="3017520"/>
          </a:xfrm>
          <a:prstGeom prst="rect">
            <a:avLst/>
          </a:prstGeom>
          <a:solidFill>
            <a:srgbClr val="0E244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0" y="1325880"/>
            <a:ext cx="352044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66760" y="2740200"/>
            <a:ext cx="3246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BM Plex Sans"/>
              </a:rPr>
              <a:t>Uket Samuel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081528"/>
            <a:ext cx="35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3B82F6"/>
                </a:solidFill>
                <a:latin typeface="IBM Plex Sans"/>
              </a:rPr>
              <a:t>Developer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401568"/>
            <a:ext cx="35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64748B"/>
                </a:solidFill>
                <a:latin typeface="IBM Plex Sans"/>
              </a:rPr>
              <a:t>Application Development &amp; UI Design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572000"/>
            <a:ext cx="11460175" cy="1920240"/>
          </a:xfrm>
          <a:prstGeom prst="rect">
            <a:avLst/>
          </a:prstGeom>
          <a:solidFill>
            <a:srgbClr val="0E244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4572000"/>
            <a:ext cx="73152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4663440"/>
            <a:ext cx="9601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CareerGPS — Predictive Workforce Transition 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212080"/>
            <a:ext cx="9601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B0C4DE"/>
                </a:solidFill>
                <a:latin typeface="IBM Plex Sans"/>
              </a:rPr>
              <a:t>10Alytics × JengaGlobal Student's Hackathon 2026  ·  Track C: Data Science  ·  Client: StrataWork Global
Moving organisations from reactive restructuring to proactive, data-driven workforce planning.</a:t>
            </a:r>
          </a:p>
        </p:txBody>
      </p:sp>
      <p:pic>
        <p:nvPicPr>
          <p:cNvPr id="33" name="Picture 32" descr="career_gp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960" y="4703164"/>
            <a:ext cx="822960" cy="82296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11A4D4C-A551-5CD3-506D-A71B00C28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530" y="1695756"/>
            <a:ext cx="904899" cy="84764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54AA927-9B91-5F39-D098-A064E3931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0431" y="1658183"/>
            <a:ext cx="985314" cy="88878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843E8BE-DD4E-4AD2-6943-D283202321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7621" y="1593604"/>
            <a:ext cx="975610" cy="9756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880</Words>
  <Application>Microsoft Office PowerPoint</Application>
  <PresentationFormat>Widescreen</PresentationFormat>
  <Paragraphs>141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Century</vt:lpstr>
      <vt:lpstr>Courier New</vt:lpstr>
      <vt:lpstr>Georgia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uket samuel</cp:lastModifiedBy>
  <cp:revision>5</cp:revision>
  <dcterms:created xsi:type="dcterms:W3CDTF">2013-01-27T09:14:16Z</dcterms:created>
  <dcterms:modified xsi:type="dcterms:W3CDTF">2026-10-02T17:39:49Z</dcterms:modified>
  <cp:category/>
</cp:coreProperties>
</file>